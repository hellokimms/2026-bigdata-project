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8" r:id="rId1"/>
  </p:sldMasterIdLst>
  <p:notesMasterIdLst>
    <p:notesMasterId r:id="rId2"/>
  </p:notesMasterIdLst>
  <p:sldIdLst>
    <p:sldId id="256" r:id="rId3"/>
    <p:sldId id="257" r:id="rId4"/>
    <p:sldId id="262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94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30초: 프로젝트명, 이름, 학번, 한 줄 소개.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30초: 문제 배경, 데이터 규모, 예측 타깃 소개.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1분 30초: 라이브 데모. 오류 시 이 화면으로 대체.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1분 30초: 라이브 데모. 오류 시 이 화면으로 대체.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1분: Feature Importance → 현시즌 WAR가 압도적. Linear Regression이 최고 성능.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30초: 핵심 결론 3줄 + 한계 한 줄. 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KBO 타자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예측 플랫폼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2004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KBO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타자 데이터를 활용해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WAR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에 영향을 미치는 주요 타격 지표를 분석하고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pPr marL="0" indent="0" algn="l">
              <a:buNone/>
            </a:pP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이전 시즌 기록을 기반으로 다음 시즌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WAR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를 예측한다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김명서  20242513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100" b="1" kern="0" spc="400">
                <a:solidFill>
                  <a:srgbClr val="3b82f6"/>
                </a:solidFill>
                <a:latin typeface="Arial"/>
                <a:ea typeface="Arial"/>
                <a:cs typeface="Arial"/>
              </a:rPr>
              <a:t>DATA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KBO엔 WAR 분석 서비스가 없다.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94a3b8"/>
                </a:solidFill>
                <a:latin typeface="Arial"/>
                <a:ea typeface="Arial"/>
                <a:cs typeface="Arial"/>
              </a:rPr>
              <a:t>현재 시즌 성적 → 다음 시즌 WAR 예측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2297756"/>
            <a:ext cx="1420586" cy="83602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altLang="ko-KR" sz="2200" b="1">
                <a:solidFill>
                  <a:schemeClr val="bg1"/>
                </a:solidFill>
                <a:effectLst/>
                <a:latin typeface="Arial"/>
                <a:cs typeface="Arial"/>
              </a:rPr>
              <a:t>9,731</a:t>
            </a:r>
            <a:r>
              <a:rPr lang="ko-KR" altLang="en-US" sz="2200" b="1">
                <a:solidFill>
                  <a:schemeClr val="bg1"/>
                </a:solidFill>
                <a:effectLst/>
                <a:latin typeface="Arial"/>
                <a:cs typeface="Arial"/>
              </a:rPr>
              <a:t>행</a:t>
            </a:r>
            <a:endParaRPr lang="ko-KR" altLang="en-US" sz="2200" b="1">
              <a:solidFill>
                <a:schemeClr val="bg1"/>
              </a:solidFill>
              <a:effectLst/>
              <a:latin typeface="Arial"/>
              <a:cs typeface="Arial"/>
            </a:endParaRPr>
          </a:p>
          <a:p>
            <a:pPr algn="ctr">
              <a:defRPr/>
            </a:pPr>
            <a:r>
              <a:rPr lang="en-US" altLang="ko-KR" sz="2200" b="1">
                <a:solidFill>
                  <a:schemeClr val="bg1"/>
                </a:solidFill>
                <a:effectLst/>
                <a:latin typeface="Arial"/>
                <a:cs typeface="Arial"/>
              </a:rPr>
              <a:t>×</a:t>
            </a:r>
            <a:endParaRPr lang="en-US" altLang="ko-KR" sz="2200" b="1">
              <a:solidFill>
                <a:schemeClr val="bg1"/>
              </a:solidFill>
              <a:effectLst/>
              <a:latin typeface="Arial"/>
              <a:cs typeface="Arial"/>
            </a:endParaRPr>
          </a:p>
          <a:p>
            <a:pPr algn="ctr">
              <a:defRPr/>
            </a:pPr>
            <a:r>
              <a:rPr lang="en-US" altLang="ko-KR" sz="2200" b="1">
                <a:solidFill>
                  <a:schemeClr val="bg1"/>
                </a:solidFill>
                <a:effectLst/>
                <a:latin typeface="Arial"/>
                <a:cs typeface="Arial"/>
              </a:rPr>
              <a:t>39</a:t>
            </a:r>
            <a:r>
              <a:rPr lang="ko-KR" altLang="en-US" sz="2200" b="1">
                <a:solidFill>
                  <a:schemeClr val="bg1"/>
                </a:solidFill>
                <a:effectLst/>
                <a:latin typeface="Arial"/>
                <a:cs typeface="Arial"/>
              </a:rPr>
              <a:t>열</a:t>
            </a:r>
            <a:endParaRPr lang="ko-KR" altLang="en-US" sz="2200" b="1"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6032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56032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1,836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256032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선수 수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57200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44년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4572000" y="299661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수록 기간</a:t>
            </a:r>
            <a:endParaRPr lang="en-US" sz="1200">
              <a:solidFill>
                <a:srgbClr val="94a3b8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US" altLang="ko-KR" sz="1050" b="0">
                <a:solidFill>
                  <a:srgbClr val="cccccc"/>
                </a:solidFill>
                <a:effectLst/>
                <a:latin typeface="Consolas"/>
              </a:rPr>
              <a:t>1982–2025</a:t>
            </a:r>
            <a:r>
              <a:rPr lang="ko-KR" altLang="en-US" sz="1050" b="0">
                <a:solidFill>
                  <a:srgbClr val="cccccc"/>
                </a:solidFill>
                <a:effectLst/>
                <a:latin typeface="Consolas"/>
              </a:rPr>
              <a:t>시즌</a:t>
            </a:r>
            <a:endParaRPr lang="ko-KR" altLang="en-US" sz="1050" b="0">
              <a:solidFill>
                <a:srgbClr val="cccccc"/>
              </a:solidFill>
              <a:effectLst/>
              <a:latin typeface="Consolas"/>
            </a:endParaRPr>
          </a:p>
          <a:p>
            <a:pPr marL="0" indent="0" algn="ctr">
              <a:buNone/>
              <a:defRPr/>
            </a:pP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0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21개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658368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4a3b8"/>
                </a:solidFill>
                <a:latin typeface="Arial"/>
                <a:ea typeface="Arial"/>
                <a:cs typeface="Arial"/>
              </a:rPr>
              <a:t>입력 변수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lvl="0">
              <a:defRPr/>
            </a:pPr>
            <a:r>
              <a:rPr lang="ko-KR" altLang="en-US" sz="1400" b="1">
                <a:solidFill>
                  <a:schemeClr val="bg1">
                    <a:lumMod val="65000"/>
                  </a:schemeClr>
                </a:solidFill>
                <a:effectLst/>
                <a:latin typeface="Consolas"/>
              </a:rPr>
              <a:t>데이터 출처</a:t>
            </a:r>
            <a:r>
              <a:rPr lang="en-US" altLang="ko-KR" sz="1400" b="0">
                <a:solidFill>
                  <a:schemeClr val="bg1">
                    <a:lumMod val="65000"/>
                  </a:schemeClr>
                </a:solidFill>
                <a:effectLst/>
                <a:latin typeface="Consolas"/>
              </a:rPr>
              <a:t>: KBO Player Dataset (1982-2025) — Kaggle (netsong)</a:t>
            </a:r>
            <a:endParaRPr lang="en-US" altLang="ko-KR" sz="1400" b="0">
              <a:solidFill>
                <a:schemeClr val="bg1">
                  <a:lumMod val="65000"/>
                </a:schemeClr>
              </a:solidFill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OPS(</a:t>
            </a:r>
            <a:r>
              <a:rPr lang="ko-KR" altLang="en-US"/>
              <a:t>출루율</a:t>
            </a:r>
            <a:r>
              <a:rPr lang="en-US" altLang="ko-KR"/>
              <a:t>+</a:t>
            </a:r>
            <a:r>
              <a:rPr lang="ko-KR" altLang="en-US"/>
              <a:t>장타율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lvl="0">
              <a:defRPr/>
            </a:pPr>
            <a:r>
              <a:rPr lang="en-US" altLang="ko-KR" sz="1100" b="1" kern="0" spc="400">
                <a:solidFill>
                  <a:srgbClr val="3b82f6"/>
                </a:solidFill>
                <a:latin typeface="Arial"/>
                <a:ea typeface="Arial"/>
                <a:cs typeface="Arial"/>
              </a:rPr>
              <a:t>EDA</a:t>
            </a:r>
            <a:endParaRPr lang="en-US" altLang="ko-KR" sz="1100"/>
          </a:p>
        </p:txBody>
      </p:sp>
      <p:sp>
        <p:nvSpPr>
          <p:cNvPr id="11" name="TextBox 10"/>
          <p:cNvSpPr txBox="1"/>
          <p:nvPr/>
        </p:nvSpPr>
        <p:spPr>
          <a:xfrm>
            <a:off x="7197634" y="905054"/>
            <a:ext cx="154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포지션 무관,</a:t>
            </a:r>
            <a:endParaRPr lang="en-US" altLang="ko-KR" sz="1000">
              <a:solidFill>
                <a:srgbClr val="94a3b8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altLang="ko-KR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OPS↔WAR r = 0.777</a:t>
            </a:r>
            <a:endParaRPr lang="ko-KR" altLang="en-US" sz="1000"/>
          </a:p>
        </p:txBody>
      </p:sp>
      <p:pic>
        <p:nvPicPr>
          <p:cNvPr id="12" name="Image 0" descr="/home/claude/img_ops_hr_war.pn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3831" y="1292896"/>
            <a:ext cx="7956338" cy="3513457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1113865" y="172202"/>
            <a:ext cx="6083769" cy="990618"/>
          </a:xfrm>
          <a:prstGeom prst="rect">
            <a:avLst/>
          </a:prstGeom>
          <a:noFill/>
          <a:ln/>
        </p:spPr>
        <p:txBody>
          <a:bodyPr wrap="square" anchor="ctr"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홈런</a:t>
            </a: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(0.572)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보다 </a:t>
            </a: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OPS(0.777)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WAR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과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<a:solidFill>
                <a:srgbClr val="1e293b"/>
              </a:solidFill>
              <a:latin typeface="Arial"/>
              <a:ea typeface="Arial"/>
              <a:cs typeface="Arial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더 강력하게 결합되어 있다</a:t>
            </a: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  <a:solidFill>
                  <a:srgbClr val="1e293b"/>
                </a:solidFill>
                <a:latin typeface="Arial"/>
                <a:ea typeface="Arial"/>
                <a:cs typeface="Arial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400" b="1" i="0" u="none" strike="noStrike" kern="1200" cap="none" spc="0" normalizeH="0" baseline="0" mc:Ignorable="hp" hp:hslEmbossed="0">
              <a:solidFill>
                <a:srgbClr val="1e293b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100" b="1" kern="0" spc="400">
                <a:solidFill>
                  <a:srgbClr val="3b82f6"/>
                </a:solidFill>
                <a:latin typeface="Arial"/>
                <a:ea typeface="Arial"/>
                <a:cs typeface="Arial"/>
              </a:rPr>
              <a:t>DEMO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1286692" y="210312"/>
            <a:ext cx="3866606" cy="5943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ko-KR" altLang="en-US" sz="2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성적 입력 </a:t>
            </a:r>
            <a:r>
              <a:rPr lang="en-US" sz="24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→ 내년 WAR는?</a:t>
            </a:r>
            <a:endParaRPr lang="en-US" sz="24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52696" y="732826"/>
            <a:ext cx="8438608" cy="4287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100" b="1" kern="0" spc="400">
                <a:solidFill>
                  <a:srgbClr val="3b82f6"/>
                </a:solidFill>
                <a:latin typeface="Arial"/>
                <a:ea typeface="Arial"/>
                <a:cs typeface="Arial"/>
              </a:rPr>
              <a:t>MODEL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1463040" y="138642"/>
            <a:ext cx="5681479" cy="737699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작년 W</a:t>
            </a:r>
            <a:r>
              <a:rPr lang="en-US" altLang="ko-KR"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AR</a:t>
            </a:r>
            <a:r>
              <a:rPr lang="ko-KR" altLang="en-US"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이 </a:t>
            </a:r>
            <a:r>
              <a:rPr lang="en-US" sz="2800" b="1">
                <a:solidFill>
                  <a:srgbClr val="1e293b"/>
                </a:solidFill>
                <a:latin typeface="Arial"/>
                <a:ea typeface="Arial"/>
                <a:cs typeface="Arial"/>
              </a:rPr>
              <a:t>가장 강한 예측 변수</a:t>
            </a:r>
            <a:endParaRPr lang="en-US" sz="2800" b="1">
              <a:solidFill>
                <a:srgbClr val="1e293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Image 0" descr="/home/claude/img_feature_importance.pn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9070" y="2133903"/>
            <a:ext cx="4663440" cy="22123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9070" y="4435678"/>
            <a:ext cx="4663440" cy="25603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Feature Importance · Random Forest</a:t>
            </a:r>
            <a:endParaRPr lang="en-US" sz="1000"/>
          </a:p>
        </p:txBody>
      </p:sp>
      <p:pic>
        <p:nvPicPr>
          <p:cNvPr id="6" name="Image 1" descr="/home/claude/img_scatter_lr.png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94787" y="2133903"/>
            <a:ext cx="3922918" cy="22123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73166" y="4435678"/>
            <a:ext cx="3566160" cy="25603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</a:rPr>
              <a:t>실제 vs 예측 · Linear Regression  (R² = 0.292)</a:t>
            </a:r>
            <a:endParaRPr lang="en-US" sz="1000"/>
          </a:p>
        </p:txBody>
      </p:sp>
      <p:sp>
        <p:nvSpPr>
          <p:cNvPr id="44" name="Text 16"/>
          <p:cNvSpPr/>
          <p:nvPr/>
        </p:nvSpPr>
        <p:spPr>
          <a:xfrm>
            <a:off x="548640" y="1435825"/>
            <a:ext cx="8046720" cy="502920"/>
          </a:xfrm>
          <a:prstGeom prst="rect">
            <a:avLst/>
          </a:prstGeom>
          <a:noFill/>
          <a:ln/>
        </p:spPr>
        <p:txBody>
          <a:bodyPr wrap="square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chemeClr val="tx1"/>
                </a:solidFill>
                <a:latin typeface="Consolas"/>
              </a:rPr>
              <a:t>머신러닝 회귀 모델 3종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chemeClr val="tx1"/>
                </a:solidFill>
                <a:latin typeface="Consolas"/>
              </a:rPr>
              <a:t>: 제한된 데이터의 과적합 방지 및 직관적인 결과 해석을 위해 선택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48639" y="1043940"/>
            <a:ext cx="8046720" cy="502920"/>
          </a:xfrm>
          <a:prstGeom prst="rect">
            <a:avLst/>
          </a:prstGeom>
          <a:noFill/>
          <a:ln/>
        </p:spPr>
        <p:txBody>
          <a:bodyPr wrap="square" anchor="ctr"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onsolas"/>
              </a:rPr>
              <a:t>만든 새 특성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onsolas"/>
              </a:rPr>
              <a:t>: 시계열 타겟 변수 생성 / 파생 변수 활용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<a:solidFill>
                <a:srgbClr val="000000"/>
              </a:solidFill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100" b="1" kern="0" spc="400">
                <a:solidFill>
                  <a:srgbClr val="3b82f6"/>
                </a:solidFill>
                <a:latin typeface="Arial"/>
                <a:ea typeface="Arial"/>
                <a:cs typeface="Arial"/>
              </a:rPr>
              <a:t>CONCLUSION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29200" cy="1554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작년 성적이</a:t>
            </a:r>
            <a:endParaRPr lang="en-US" sz="4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최고의 예측 변수다.</a:t>
            </a:r>
            <a:endParaRPr lang="en-US" sz="420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01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한계점: 포지션 가치 미반영</a:t>
            </a:r>
            <a:endParaRPr lang="en-US" sz="16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02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143000" y="3172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</a:rPr>
              <a:t>향후 개선 방향: 다년도 가중 평균 도입</a:t>
            </a:r>
            <a:endParaRPr lang="en-US" sz="16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675888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141</ep:Words>
  <ep:PresentationFormat>화면 슬라이드 쇼(16:9)</ep:PresentationFormat>
  <ep:Paragraphs>40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2026-06-12T02:39:30.000</dcterms:created>
  <dc:creator>PptxGenJS</dc:creator>
  <cp:lastModifiedBy>msmsm</cp:lastModifiedBy>
  <dcterms:modified xsi:type="dcterms:W3CDTF">2026-06-13T10:09:44.371</dcterms:modified>
  <cp:revision>11</cp:revision>
  <dc:subject>PptxGenJS Presentation</dc:subject>
  <dc:title>KBO 타자 WAR 분석 및 예측 플랫폼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